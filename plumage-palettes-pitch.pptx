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Plumage Palettes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7F3ED"/>
                </a:solidFill>
              </a:rPr>
              <a:t>Nature-Inspired Paint Colors from the World's Most Spectacular Birds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A3C34"/>
                </a:solidFill>
              </a:rPr>
              <a:t>Paint Colors Deserve Better Names &amp; Stories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2D2D2D"/>
                </a:solidFill>
              </a:rPr>
              <a:t>Current paint palettes use generic staged-home photos and forgettable names like "Whisper White" and "Morning Fog." People want to feel connected to their color choices — not sold a manufactured lifestyle.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846320" y="1371600"/>
            <a:ext cx="1645920" cy="1005840"/>
          </a:xfrm>
          <a:prstGeom prst="rect">
            <a:avLst/>
          </a:prstGeom>
          <a:solidFill>
            <a:srgbClr val="E63946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46320" y="2560320"/>
            <a:ext cx="1645920" cy="1005840"/>
          </a:xfrm>
          <a:prstGeom prst="rect">
            <a:avLst/>
          </a:prstGeom>
          <a:solidFill>
            <a:srgbClr val="4169E1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0" y="3749040"/>
            <a:ext cx="1645920" cy="1005840"/>
          </a:xfrm>
          <a:prstGeom prst="rect">
            <a:avLst/>
          </a:prstGeom>
          <a:solidFill>
            <a:srgbClr val="FFD60A"/>
          </a:solidFill>
          <a:ln w="12700">
            <a:solidFill>
              <a:srgbClr val="2D2D2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A3C34"/>
                </a:solidFill>
              </a:rPr>
              <a:t>What If Your Paint Palette Told a Story?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2D2D2D"/>
                </a:solidFill>
              </a:rPr>
              <a:t>Plumage Palettes matches real paint colors to the stunning plumage of the world's most beautiful birds. Each color comes with the bird's photo, its story, and a conservation message.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solidFill>
            <a:srgbClr val="1A3C34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1089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7F3ED"/>
                </a:solidFill>
              </a:rPr>
              <a:t>Colors with character. Stories with meaning.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A3C34"/>
                </a:solidFill>
              </a:rPr>
              <a:t>Sample Palette: Scarlet Macaw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463040" cy="822960"/>
          </a:xfrm>
          <a:prstGeom prst="rect">
            <a:avLst/>
          </a:prstGeom>
          <a:solidFill>
            <a:srgbClr val="E63946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148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D2D2D"/>
                </a:solidFill>
              </a:rPr>
              <a:t>Macaw Scarlet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103120" y="1188720"/>
            <a:ext cx="1463040" cy="822960"/>
          </a:xfrm>
          <a:prstGeom prst="rect">
            <a:avLst/>
          </a:prstGeom>
          <a:solidFill>
            <a:srgbClr val="FFD60A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03120" y="2148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D2D2D"/>
                </a:solidFill>
              </a:rPr>
              <a:t>Tropical Gold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749040" y="1188720"/>
            <a:ext cx="1463040" cy="822960"/>
          </a:xfrm>
          <a:prstGeom prst="rect">
            <a:avLst/>
          </a:prstGeom>
          <a:solidFill>
            <a:srgbClr val="006BA6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2148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D2D2D"/>
                </a:solidFill>
              </a:rPr>
              <a:t>Flight Feather Blue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94960" y="1188720"/>
            <a:ext cx="1463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2148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D2D2D"/>
                </a:solidFill>
              </a:rPr>
              <a:t>Bare Face White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040880" y="1188720"/>
            <a:ext cx="1463040" cy="822960"/>
          </a:xfrm>
          <a:prstGeom prst="rect">
            <a:avLst/>
          </a:prstGeom>
          <a:solidFill>
            <a:srgbClr val="DAA520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2148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D2D2D"/>
                </a:solidFill>
              </a:rPr>
              <a:t>Jungle Gilded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1645920"/>
          </a:xfrm>
          <a:prstGeom prst="rect">
            <a:avLst/>
          </a:prstGeom>
          <a:solidFill>
            <a:srgbClr val="1A3C34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94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7F3ED"/>
                </a:solidFill>
              </a:rPr>
              <a:t>Scarlet Macaw (Ara macao)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0080" y="4251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The iconic tropical parrot, threatened by illegal pet trade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A3C34"/>
                </a:solidFill>
              </a:rPr>
              <a:t>Sample Palette: Superb Fairy-wren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463040" cy="822960"/>
          </a:xfrm>
          <a:prstGeom prst="rect">
            <a:avLst/>
          </a:prstGeom>
          <a:solidFill>
            <a:srgbClr val="0080F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148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D2D2D"/>
                </a:solidFill>
              </a:rPr>
              <a:t>Fairy-wren Azure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103120" y="1188720"/>
            <a:ext cx="146304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03120" y="2148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D2D2D"/>
                </a:solidFill>
              </a:rPr>
              <a:t>Midnight Mask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749040" y="1188720"/>
            <a:ext cx="1463040" cy="822960"/>
          </a:xfrm>
          <a:prstGeom prst="rect">
            <a:avLst/>
          </a:prstGeom>
          <a:solidFill>
            <a:srgbClr val="6BA3D6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2148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D2D2D"/>
                </a:solidFill>
              </a:rPr>
              <a:t>Dawn Perch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94960" y="1188720"/>
            <a:ext cx="1463040" cy="822960"/>
          </a:xfrm>
          <a:prstGeom prst="rect">
            <a:avLst/>
          </a:prstGeom>
          <a:solidFill>
            <a:srgbClr val="8B6F47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2148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D2D2D"/>
                </a:solidFill>
              </a:rPr>
              <a:t>Wren's Wing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040880" y="1188720"/>
            <a:ext cx="1463040" cy="822960"/>
          </a:xfrm>
          <a:prstGeom prst="rect">
            <a:avLst/>
          </a:prstGeom>
          <a:solidFill>
            <a:srgbClr val="E8E8E8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2148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D2D2D"/>
                </a:solidFill>
              </a:rPr>
              <a:t>Breast Feather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1645920"/>
          </a:xfrm>
          <a:prstGeom prst="rect">
            <a:avLst/>
          </a:prstGeom>
          <a:solidFill>
            <a:srgbClr val="1A3C34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94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7F3ED"/>
                </a:solidFill>
              </a:rPr>
              <a:t>Superb Fairy-wren (Malurus cyaneus)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0080" y="4251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Males carry flower petals to impress females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A3C34"/>
                </a:solidFill>
              </a:rPr>
              <a:t>Beautiful Birds Need Our Help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37160" cy="7315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A3C34"/>
                </a:solidFill>
              </a:rPr>
              <a:t>Global Wildlife Trade: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2D2D2D"/>
                </a:solidFill>
              </a:rPr>
              <a:t>$7-23 billion annually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137160" cy="731520"/>
          </a:xfrm>
          <a:prstGeom prst="rect">
            <a:avLst/>
          </a:prstGeom>
          <a:solidFill>
            <a:srgbClr val="4169E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94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A3C34"/>
                </a:solidFill>
              </a:rPr>
              <a:t>1 in 4 bird species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2D2D2D"/>
                </a:solidFill>
              </a:rPr>
              <a:t>Caught in wildlife trade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137160" cy="73152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A3C34"/>
                </a:solidFill>
              </a:rPr>
              <a:t>Painted Buntings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2D2D2D"/>
                </a:solidFill>
              </a:rPr>
              <a:t>Illegally trapped from Louisiana, sold in Europe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137160" cy="7315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023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A3C34"/>
                </a:solidFill>
              </a:rPr>
              <a:t>Florida Scrub-Jays: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1520" y="43891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2D2D2D"/>
                </a:solidFill>
              </a:rPr>
              <a:t>Fewer than 10,000 remain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solidFill>
            <a:srgbClr val="1A3C34"/>
          </a:solidFill>
          <a:ln w="25400">
            <a:solidFill>
              <a:srgbClr val="FFD6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4864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7F3ED"/>
                </a:solidFill>
              </a:rPr>
              <a:t>A portion of every sale donated to the National Audubon Society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A3C34"/>
                </a:solidFill>
              </a:rPr>
              <a:t>Beyond Birds: A World of Color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188720"/>
          </a:xfrm>
          <a:prstGeom prst="rect">
            <a:avLst/>
          </a:prstGeom>
          <a:solidFill>
            <a:srgbClr val="FFD60A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4173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Butterflies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&amp; Moths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91840" y="1188720"/>
            <a:ext cx="2560320" cy="1188720"/>
          </a:xfrm>
          <a:prstGeom prst="rect">
            <a:avLst/>
          </a:prstGeom>
          <a:solidFill>
            <a:srgbClr val="4169E1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0" y="14173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Dragonflies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&amp; Beetles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126480" y="1188720"/>
            <a:ext cx="2560320" cy="1188720"/>
          </a:xfrm>
          <a:prstGeom prst="rect">
            <a:avLst/>
          </a:prstGeom>
          <a:solidFill>
            <a:srgbClr val="E63946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4173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Tropical Fish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&amp; Coral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2560320" cy="1188720"/>
          </a:xfrm>
          <a:prstGeom prst="rect">
            <a:avLst/>
          </a:prstGeom>
          <a:solidFill>
            <a:srgbClr val="1A3C34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71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Wildflowers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&amp; Plants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91840" y="2743200"/>
            <a:ext cx="2560320" cy="1188720"/>
          </a:xfrm>
          <a:prstGeom prst="rect">
            <a:avLst/>
          </a:prstGeom>
          <a:solidFill>
            <a:srgbClr val="006BA6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971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Pacific</a:t>
            </a:r>
            <a:endParaRPr lang="en-US" dirty="0"/>
          </a:p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Northwest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126480" y="2743200"/>
            <a:ext cx="2560320" cy="1188720"/>
          </a:xfrm>
          <a:prstGeom prst="rect">
            <a:avLst/>
          </a:prstGeom>
          <a:solidFill>
            <a:srgbClr val="0080F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2971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Everglades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A3C34"/>
                </a:solidFill>
              </a:rPr>
              <a:t>A New Category in Home Design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</a:rPr>
              <a:t>■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2D2D2D"/>
                </a:solidFill>
              </a:rPr>
              <a:t>Home paint market: $30B+ globally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</a:rPr>
              <a:t>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148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2D2D2D"/>
                </a:solidFill>
              </a:rPr>
              <a:t>Growing consumer demand for ethical, story-driven products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</a:rPr>
              <a:t>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3017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2D2D2D"/>
                </a:solidFill>
              </a:rPr>
              <a:t>Nature-inspired decor trending across social media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</a:rPr>
              <a:t>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3886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2D2D2D"/>
                </a:solidFill>
              </a:rPr>
              <a:t>No direct competitor combining paint + wildlife conservation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</a:rPr>
              <a:t>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4754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2D2D2D"/>
                </a:solidFill>
              </a:rPr>
              <a:t>Digital + physical product potential (app, booklets, paint partnerships)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A3C34"/>
                </a:solidFill>
              </a:rPr>
              <a:t>How It Works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28600" cy="2286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280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2D2D2D"/>
                </a:solidFill>
              </a:rPr>
              <a:t>Licensed paint color collections with major paint brands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28600" cy="228600"/>
          </a:xfrm>
          <a:prstGeom prst="ellipse">
            <a:avLst/>
          </a:prstGeom>
          <a:solidFill>
            <a:srgbClr val="4169E1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48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2D2D2D"/>
                </a:solidFill>
              </a:rPr>
              <a:t>Digital app/website (subscription + in-app purchases)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28600" cy="22860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017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2D2D2D"/>
                </a:solidFill>
              </a:rPr>
              <a:t>Physical color booklets/cards sold at home improvement stores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228600" cy="228600"/>
          </a:xfrm>
          <a:prstGeom prst="ellipse">
            <a:avLst/>
          </a:prstGeom>
          <a:solidFill>
            <a:srgbClr val="1A3C34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886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2D2D2D"/>
                </a:solidFill>
              </a:rPr>
              <a:t>Regional editions and seasonal collections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4846320"/>
            <a:ext cx="228600" cy="2286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754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2D2D2D"/>
                </a:solidFill>
              </a:rPr>
              <a:t>Conservation-branded partnerships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Let's Paint a Better World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D60A"/>
                </a:solidFill>
              </a:rPr>
              <a:t>Every color tells a story. Every purchase protects a species.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7F3ED"/>
                </a:solidFill>
              </a:rPr>
              <a:t>Contact: info@plumagepalettes.com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2026-03-02T18:30:46Z</dcterms:created>
  <dcterms:modified xsi:type="dcterms:W3CDTF">2026-03-02T18:30:46Z</dcterms:modified>
</cp:coreProperties>
</file>